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E8C1"/>
                </a:solidFill>
              </a:defRPr>
            </a:pPr>
            <a:r>
              <a:t>🏆 AMIHACKS 1.0 HACKATHON PITCH</a:t>
            </a:r>
          </a:p>
          <a:p>
            <a:pPr>
              <a:defRPr sz="4000" b="1">
                <a:solidFill>
                  <a:srgbClr val="FDFBF7"/>
                </a:solidFill>
              </a:defRPr>
            </a:pPr>
            <a:r>
              <a:t>PlateRelay: "Surplus-to-Shelter"</a:t>
            </a:r>
          </a:p>
          <a:p>
            <a:pPr>
              <a:defRPr sz="2800" b="1">
                <a:solidFill>
                  <a:srgbClr val="F4E8C1"/>
                </a:solidFill>
              </a:defRPr>
            </a:pPr>
            <a:r>
              <a:t>Real-Time Food Rescue Routing Platform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Eliminating urban food waste via real-time 3-stage perishability cascade, automated NGO matching engine, and dual-OTP chain-of-custody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2286000" cy="1097280"/>
          </a:xfrm>
          <a:prstGeom prst="roundRect">
            <a:avLst/>
          </a:prstGeom>
          <a:solidFill>
            <a:srgbClr val="581C25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E8C1"/>
                </a:solidFill>
              </a:defRPr>
            </a:pPr>
            <a:r>
              <a:t>3-Stage Cascade Engine</a:t>
            </a:r>
          </a:p>
          <a:p>
            <a:pPr>
              <a:defRPr sz="900">
                <a:solidFill>
                  <a:srgbClr val="FDFBF7"/>
                </a:solidFill>
              </a:defRPr>
            </a:pPr>
            <a:r>
              <a:t>Commercial -&gt; Share -&gt; NGO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389120"/>
            <a:ext cx="2286000" cy="1097280"/>
          </a:xfrm>
          <a:prstGeom prst="roundRect">
            <a:avLst/>
          </a:prstGeom>
          <a:solidFill>
            <a:srgbClr val="581C25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E8C1"/>
                </a:solidFill>
              </a:defRPr>
            </a:pPr>
            <a:r>
              <a:t>78 / 100 Match Score</a:t>
            </a:r>
          </a:p>
          <a:p>
            <a:pPr>
              <a:defRPr sz="900">
                <a:solidFill>
                  <a:srgbClr val="FDFBF7"/>
                </a:solidFill>
              </a:defRPr>
            </a:pPr>
            <a:r>
              <a:t>Dynamic Weighted Algorithm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4389120"/>
            <a:ext cx="2286000" cy="1097280"/>
          </a:xfrm>
          <a:prstGeom prst="roundRect">
            <a:avLst/>
          </a:prstGeom>
          <a:solidFill>
            <a:srgbClr val="581C25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E8C1"/>
                </a:solidFill>
              </a:defRPr>
            </a:pPr>
            <a:r>
              <a:t>Dual-OTP Security</a:t>
            </a:r>
          </a:p>
          <a:p>
            <a:pPr>
              <a:defRPr sz="900">
                <a:solidFill>
                  <a:srgbClr val="FDFBF7"/>
                </a:solidFill>
              </a:defRPr>
            </a:pPr>
            <a:r>
              <a:t>#4821 Pickup | #9374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4389120"/>
            <a:ext cx="2286000" cy="1097280"/>
          </a:xfrm>
          <a:prstGeom prst="roundRect">
            <a:avLst/>
          </a:prstGeom>
          <a:solidFill>
            <a:srgbClr val="581C25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E8C1"/>
                </a:solidFill>
              </a:defRPr>
            </a:pPr>
            <a:r>
              <a:t>Dual DB Architecture</a:t>
            </a:r>
          </a:p>
          <a:p>
            <a:pPr>
              <a:defRPr sz="900">
                <a:solidFill>
                  <a:srgbClr val="FDFBF7"/>
                </a:solidFill>
              </a:defRPr>
            </a:pPr>
            <a:r>
              <a:t>SQLite + Mongo Atlas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E8C1"/>
                </a:solidFill>
              </a:defRPr>
            </a:pPr>
            <a:r>
              <a:t>🔴 PROBLEM STATEMENT</a:t>
            </a:r>
          </a:p>
          <a:p>
            <a:pPr>
              <a:defRPr sz="2600" b="1">
                <a:solidFill>
                  <a:srgbClr val="FDFBF7"/>
                </a:solidFill>
              </a:defRPr>
            </a:pPr>
            <a:r>
              <a:t>The Urban Food Paradox: Waste vs. Hunger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E8C1"/>
                </a:solidFill>
              </a:defRPr>
            </a:pPr>
            <a:r>
              <a:t>Slide 2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E8C1"/>
                </a:solidFill>
              </a:defRPr>
            </a:pPr>
            <a:r>
              <a:t>🚮 67 Million Tons Wasted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India loses ₹92,000 Crores worth of edible food annually. Commercial kitchens, hostels, weddings, and bakeries throw away edible surplus daily.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E8C1"/>
                </a:solidFill>
              </a:defRPr>
            </a:pPr>
            <a:r>
              <a:t>⏳ Perishability Clock Barrier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Cooked meals spoil within 2–4 hours. Traditional phone-call networks to NGOs fail because food expires before volunteers can arrive.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E8C1"/>
                </a:solidFill>
              </a:defRPr>
            </a:pPr>
            <a:r>
              <a:t>🚫 Lack of Smart Logistics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Zero real-time unified platforms exist to route surplus food dynamically between cost-conscious buyers, community members, and shelters.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E8C1"/>
                </a:solidFill>
              </a:defRPr>
            </a:pPr>
            <a:r>
              <a:t>💡 PROPOSED SOLUTION</a:t>
            </a:r>
          </a:p>
          <a:p>
            <a:pPr>
              <a:defRPr sz="2600" b="1">
                <a:solidFill>
                  <a:srgbClr val="FDFBF7"/>
                </a:solidFill>
              </a:defRPr>
            </a:pPr>
            <a:r>
              <a:t>PlateRelay: Real-Time 3-Stage Cascade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E8C1"/>
                </a:solidFill>
              </a:defRPr>
            </a:pPr>
            <a:r>
              <a:t>Slide 3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4A152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STAGE 1: RESCUE DEAL (50-70% OFF) 🏷️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Commercial resale window allowing food businesses to recover preparation costs while food is super fresh.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3840480"/>
          </a:xfrm>
          <a:prstGeom prst="roundRect">
            <a:avLst/>
          </a:prstGeom>
          <a:solidFill>
            <a:srgbClr val="4A15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STAGE 2: FREE SHARE FEED 🌱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Zero-cost community sharing feed activated automatically as safe consumption time window decreases.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3840480"/>
          </a:xfrm>
          <a:prstGeom prst="roundRect">
            <a:avLst/>
          </a:prstGeom>
          <a:solidFill>
            <a:srgbClr val="4A1521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STAGE 3: NGO BULK RESCUE 🤝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Automated direct routing to verified shelters &amp; langars for bulk quantities (≥ 15 portions) or near cutoff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4E8C1"/>
                </a:solidFill>
              </a:defRPr>
            </a:pPr>
            <a:r>
              <a:t>⏱️ Safety Countdown Clock Ring: Displays live safe-for timer (e.g., 3h 45m) ensuring zero spoiled food distribution.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E8C1"/>
                </a:solidFill>
              </a:defRPr>
            </a:pPr>
            <a:r>
              <a:t>✨ KEY FEATURES &amp; INNOVATION</a:t>
            </a:r>
          </a:p>
          <a:p>
            <a:pPr>
              <a:defRPr sz="2600" b="1">
                <a:solidFill>
                  <a:srgbClr val="FDFBF7"/>
                </a:solidFill>
              </a:defRPr>
            </a:pPr>
            <a:r>
              <a:t>Intelligent Modules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E8C1"/>
                </a:solidFill>
              </a:defRPr>
            </a:pPr>
            <a:r>
              <a:t>Slide 4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9456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🧠 Automated Weighted NGO Matcher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Calculates dynamic match scores (78/100) using Distance (40%) + Capacity Fit (25%) + Urgency (20%) + Preference (15%).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19456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📷 Smart Dish Photo Matcher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Auto-detects dish titles (Momos, Paneer, Biryani, Chole Bhature, Gulab Jamun, Dal Makhani) with direct device photo upload option.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57800" cy="219456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🔒 Dual-OTP Handoff Security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Pickup OTP (#4821) and Delivery OTP (#9374) verify volunteer runner chain-of-custody to eliminate fraud.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23360"/>
            <a:ext cx="5257800" cy="219456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🗺️ OpenStreetMap Integration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Live interactive map with custom Leaflet markers for Temples, Langars, and Verified Community Shelters.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E8C1"/>
                </a:solidFill>
              </a:defRPr>
            </a:pPr>
            <a:r>
              <a:t>🏗️ SYSTEM ARCHITECTURE</a:t>
            </a:r>
          </a:p>
          <a:p>
            <a:pPr>
              <a:defRPr sz="2600" b="1">
                <a:solidFill>
                  <a:srgbClr val="FDFBF7"/>
                </a:solidFill>
              </a:defRPr>
            </a:pPr>
            <a:r>
              <a:t>Architecture &amp; Tech Stack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E8C1"/>
                </a:solidFill>
              </a:defRPr>
            </a:pPr>
            <a:r>
              <a:t>Slide 5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E8C1"/>
                </a:solidFill>
              </a:defRPr>
            </a:pPr>
            <a:r>
              <a:t>[ Donor Form Input (React) ] ──► [ Express REST API (Port 5001) ] ──► [ Perishability Engine ]</a:t>
            </a:r>
            <a:br/>
            <a:r>
              <a:t>                                                     │</a:t>
            </a:r>
            <a:br/>
            <a:r>
              <a:t>                                                     ▼</a:t>
            </a:r>
            <a:br/>
            <a:r>
              <a:t>                                      ┌──────────────────────────┐</a:t>
            </a:r>
            <a:br/>
            <a:r>
              <a:t>                                      │ Dual-Database Architecture│</a:t>
            </a:r>
            <a:br/>
            <a:r>
              <a:t>                                      │ • SQLite (database.db)   │</a:t>
            </a:r>
            <a:br/>
            <a:r>
              <a:t>                                      │ • Mongo Atlas Cloud Sync │</a:t>
            </a:r>
            <a:br/>
            <a:r>
              <a:t>                                      └──────────────────────────┘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383280" cy="2286000"/>
          </a:xfrm>
          <a:prstGeom prst="roundRect">
            <a:avLst/>
          </a:prstGeom>
          <a:solidFill>
            <a:srgbClr val="4A1521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Frontend Layer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React.js, Vite, Tailwind CSS, Lucide Icons, Leaflet Maps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931920"/>
            <a:ext cx="3383280" cy="2286000"/>
          </a:xfrm>
          <a:prstGeom prst="roundRect">
            <a:avLst/>
          </a:prstGeom>
          <a:solidFill>
            <a:srgbClr val="4A1521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Backend &amp; Engine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Node.js, Express API, Haversine Distance, Weighted Matcher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931920"/>
            <a:ext cx="3383280" cy="2286000"/>
          </a:xfrm>
          <a:prstGeom prst="roundRect">
            <a:avLst/>
          </a:prstGeom>
          <a:solidFill>
            <a:srgbClr val="4A1521"/>
          </a:solidFill>
          <a:ln>
            <a:solidFill>
              <a:srgbClr val="FD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E8C1"/>
                </a:solidFill>
              </a:defRPr>
            </a:pPr>
            <a:r>
              <a:t>Database &amp; Storage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SQLite (Zero-setup local) + MongoDB Atlas Cloud Cluster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E8C1"/>
                </a:solidFill>
              </a:defRPr>
            </a:pPr>
            <a:r>
              <a:t>📸 DEMO SCREENSHOTS &amp; GALLERY</a:t>
            </a:r>
          </a:p>
          <a:p>
            <a:pPr>
              <a:defRPr sz="2600" b="1">
                <a:solidFill>
                  <a:srgbClr val="FDFBF7"/>
                </a:solidFill>
              </a:defRPr>
            </a:pPr>
            <a:r>
              <a:t>Live Platform Workflows &amp; Exact Dish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E8C1"/>
                </a:solidFill>
              </a:defRPr>
            </a:pPr>
            <a:r>
              <a:t>Slide 6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E8C1"/>
                </a:solidFill>
              </a:defRPr>
            </a:pPr>
            <a:r>
              <a:t>1. Dal Makhani Rescue</a:t>
            </a:r>
          </a:p>
          <a:p>
            <a:br/>
            <a:br/>
            <a:br/>
            <a:br/>
            <a:br/>
            <a:br/>
            <a:br/>
            <a:br/>
            <a:pPr>
              <a:defRPr sz="1100">
                <a:solidFill>
                  <a:srgbClr val="FFFFFF"/>
                </a:solidFill>
              </a:defRPr>
            </a:pPr>
            <a:r>
              <a:t>Exact uploaded Dal Makhani photo with cream swirl &amp; butter.</a:t>
            </a:r>
          </a:p>
        </p:txBody>
      </p:sp>
      <p:pic>
        <p:nvPicPr>
          <p:cNvPr id="6" name="Picture 5" descr="dal_makha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3017520" cy="228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E8C1"/>
                </a:solidFill>
              </a:defRPr>
            </a:pPr>
            <a:r>
              <a:t>2. Chole Bhature Rescue</a:t>
            </a:r>
          </a:p>
          <a:p>
            <a:br/>
            <a:br/>
            <a:br/>
            <a:br/>
            <a:br/>
            <a:br/>
            <a:br/>
            <a:br/>
            <a:pPr>
              <a:defRPr sz="1100">
                <a:solidFill>
                  <a:srgbClr val="FFFFFF"/>
                </a:solidFill>
              </a:defRPr>
            </a:pPr>
            <a:r>
              <a:t>Fluffy bhaturas &amp; paneer chole matched automatically.</a:t>
            </a:r>
          </a:p>
        </p:txBody>
      </p:sp>
      <p:pic>
        <p:nvPicPr>
          <p:cNvPr id="8" name="Picture 7" descr="chole_bh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194560"/>
            <a:ext cx="3017520" cy="2286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E8C1"/>
                </a:solidFill>
              </a:defRPr>
            </a:pPr>
            <a:r>
              <a:t>3. Gulab Jamun &amp; Sweets</a:t>
            </a:r>
          </a:p>
          <a:p>
            <a:br/>
            <a:br/>
            <a:br/>
            <a:br/>
            <a:br/>
            <a:br/>
            <a:br/>
            <a:br/>
            <a:pPr>
              <a:defRPr sz="1100">
                <a:solidFill>
                  <a:srgbClr val="FFFFFF"/>
                </a:solidFill>
              </a:defRPr>
            </a:pPr>
            <a:r>
              <a:t>Authentic sweet syrup Gulab Jamun with instant donor handoff.</a:t>
            </a:r>
          </a:p>
        </p:txBody>
      </p:sp>
      <p:pic>
        <p:nvPicPr>
          <p:cNvPr id="10" name="Picture 9" descr="gulab_jam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194560"/>
            <a:ext cx="301752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E8C1"/>
                </a:solidFill>
              </a:defRPr>
            </a:pPr>
            <a:r>
              <a:t>📊 TECHNICAL IMPLEMENTATION &amp; IMPACT</a:t>
            </a:r>
          </a:p>
          <a:p>
            <a:pPr>
              <a:defRPr sz="2600" b="1">
                <a:solidFill>
                  <a:srgbClr val="FDFBF7"/>
                </a:solidFill>
              </a:defRPr>
            </a:pPr>
            <a:r>
              <a:t>Simulated Clock &amp; Environmental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E8C1"/>
                </a:solidFill>
              </a:defRPr>
            </a:pPr>
            <a:r>
              <a:t>Slide 7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E8C1"/>
                </a:solidFill>
              </a:defRPr>
            </a:pPr>
            <a:r>
              <a:t>⏱️ Demo Clock Acceleration Simulator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Built-in simulated time controller allowing hackathon judges to fast-forward hours in real-time and watch listings transition dynamically across Stage 1 → Stage 2 → Stage 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E8C1"/>
                </a:solidFill>
              </a:defRPr>
            </a:pPr>
            <a:r>
              <a:t>🌱 Environmental CO₂e Impact Formula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CO₂e Saved (kg) = Rescued Food Weight (kg) × 2.5</a:t>
            </a:r>
            <a:br/>
            <a:br/>
            <a:r>
              <a:t>Converts every saved meal into live carbon footprint reduction displayed on the Impact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E8C1"/>
                </a:solidFill>
              </a:defRPr>
            </a:pPr>
            <a:r>
              <a:t>🔮 FUTURE SCOPE &amp; ROADMAP</a:t>
            </a:r>
          </a:p>
          <a:p>
            <a:pPr>
              <a:defRPr sz="2600" b="1">
                <a:solidFill>
                  <a:srgbClr val="FDFBF7"/>
                </a:solidFill>
              </a:defRPr>
            </a:pPr>
            <a:r>
              <a:t>Scaling PlateRelay Pan-India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365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4E8C1"/>
                </a:solidFill>
              </a:defRPr>
            </a:pPr>
            <a:r>
              <a:t>Slide 8 of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4E8C1"/>
                </a:solidFill>
              </a:defRPr>
            </a:pPr>
            <a:r>
              <a:t>🏆 Volunteer Karma Points &amp; Rewards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Concept: Volunteer runners earn PlateRelay Karma Points for every successful food delivery.</a:t>
            </a:r>
            <a:br/>
            <a:br/>
            <a:r>
              <a:t>• Why it helps: Volunteers redeem points for free fuel vouchers, public transport passes, or restaurant discounts.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4E8C1"/>
                </a:solidFill>
              </a:defRPr>
            </a:pPr>
            <a:r>
              <a:t>🛵 Delivery Partner Fleet Integration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Concept: Utilizing existing delivery drivers (Swiggy/Zomato/Dunzo) during their slow off-peak hours (3 PM – 6 PM).</a:t>
            </a:r>
            <a:br/>
            <a:br/>
            <a:r>
              <a:t>• Why it helps: Provides zero-cost, reliable transportation for bulk surplus meals to shelters.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4A1521"/>
          </a:solidFill>
          <a:ln>
            <a:solidFill>
              <a:srgbClr val="F4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4E8C1"/>
                </a:solidFill>
              </a:defRPr>
            </a:pPr>
            <a:r>
              <a:t>🤖 AI Surplus Demand Predictor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Concept: Machine Learning models analyzing past restaurant sales, weather &amp; local event trends.</a:t>
            </a:r>
            <a:br/>
            <a:br/>
            <a:r>
              <a:t>• Why it helps: Predicts surplus food before cooking starts, pre-alerting NGOs in advance.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